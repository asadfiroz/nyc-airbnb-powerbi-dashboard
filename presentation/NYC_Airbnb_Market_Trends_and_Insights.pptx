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Bricolage Grotesque" charset="1" panose="020B0605040402000204"/>
      <p:regular r:id="rId17"/>
    </p:embeddedFont>
    <p:embeddedFont>
      <p:font typeface="Poppins Bold Italics" charset="1" panose="00000800000000000000"/>
      <p:regular r:id="rId18"/>
    </p:embeddedFont>
    <p:embeddedFont>
      <p:font typeface="Poppins Italics" charset="1" panose="00000500000000000000"/>
      <p:regular r:id="rId19"/>
    </p:embeddedFont>
    <p:embeddedFont>
      <p:font typeface="Bricolage Grotesque Bold" charset="1" panose="020B0605040402000204"/>
      <p:regular r:id="rId20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62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22263" y="-749486"/>
            <a:ext cx="9305446" cy="15606618"/>
          </a:xfrm>
          <a:custGeom>
            <a:avLst/>
            <a:gdLst/>
            <a:ahLst/>
            <a:cxnLst/>
            <a:rect r="r" b="b" t="t" l="l"/>
            <a:pathLst>
              <a:path h="15606618" w="9305446">
                <a:moveTo>
                  <a:pt x="0" y="0"/>
                </a:moveTo>
                <a:lnTo>
                  <a:pt x="9305446" y="0"/>
                </a:lnTo>
                <a:lnTo>
                  <a:pt x="9305446" y="15606619"/>
                </a:lnTo>
                <a:lnTo>
                  <a:pt x="0" y="1560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9956" y="1028700"/>
            <a:ext cx="735971" cy="710546"/>
          </a:xfrm>
          <a:custGeom>
            <a:avLst/>
            <a:gdLst/>
            <a:ahLst/>
            <a:cxnLst/>
            <a:rect r="r" b="b" t="t" l="l"/>
            <a:pathLst>
              <a:path h="710546" w="735971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60002" y="7808637"/>
            <a:ext cx="10212564" cy="2478363"/>
            <a:chOff x="0" y="0"/>
            <a:chExt cx="13616753" cy="330448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709265"/>
              <a:ext cx="495756" cy="247681"/>
              <a:chOff x="0" y="0"/>
              <a:chExt cx="1626893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2689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26893">
                    <a:moveTo>
                      <a:pt x="813447" y="0"/>
                    </a:moveTo>
                    <a:cubicBezTo>
                      <a:pt x="364192" y="0"/>
                      <a:pt x="0" y="181951"/>
                      <a:pt x="0" y="406400"/>
                    </a:cubicBezTo>
                    <a:cubicBezTo>
                      <a:pt x="0" y="630849"/>
                      <a:pt x="364192" y="812800"/>
                      <a:pt x="813447" y="812800"/>
                    </a:cubicBezTo>
                    <a:cubicBezTo>
                      <a:pt x="1262701" y="812800"/>
                      <a:pt x="1626893" y="630849"/>
                      <a:pt x="1626893" y="406400"/>
                    </a:cubicBezTo>
                    <a:cubicBezTo>
                      <a:pt x="1626893" y="181951"/>
                      <a:pt x="1262701" y="0"/>
                      <a:pt x="81344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52521" y="104775"/>
                <a:ext cx="1321851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308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865596" y="85725"/>
              <a:ext cx="10126096" cy="703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41"/>
                </a:lnSpc>
              </a:pPr>
              <a:r>
                <a:rPr lang="en-US" b="true" sz="3955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GROUP 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65596" y="947589"/>
              <a:ext cx="11751156" cy="376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21"/>
                </a:lnSpc>
              </a:pPr>
              <a:r>
                <a:rPr lang="en-US" sz="2208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Asad Firoz · Riya Gupta · Kinjal Goyal · Daniel Charles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65596" y="2433582"/>
              <a:ext cx="10126096" cy="703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41"/>
                </a:lnSpc>
              </a:pP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3056803"/>
              <a:ext cx="495756" cy="247681"/>
              <a:chOff x="0" y="0"/>
              <a:chExt cx="1626893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2689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26893">
                    <a:moveTo>
                      <a:pt x="813447" y="0"/>
                    </a:moveTo>
                    <a:cubicBezTo>
                      <a:pt x="364192" y="0"/>
                      <a:pt x="0" y="181951"/>
                      <a:pt x="0" y="406400"/>
                    </a:cubicBezTo>
                    <a:cubicBezTo>
                      <a:pt x="0" y="630849"/>
                      <a:pt x="364192" y="812800"/>
                      <a:pt x="813447" y="812800"/>
                    </a:cubicBezTo>
                    <a:cubicBezTo>
                      <a:pt x="1262701" y="812800"/>
                      <a:pt x="1626893" y="630849"/>
                      <a:pt x="1626893" y="406400"/>
                    </a:cubicBezTo>
                    <a:cubicBezTo>
                      <a:pt x="1626893" y="181951"/>
                      <a:pt x="1262701" y="0"/>
                      <a:pt x="81344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52521" y="104775"/>
                <a:ext cx="1321851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308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3320099" y="955532"/>
            <a:ext cx="5996813" cy="426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NYC Airbnb</a:t>
            </a:r>
          </a:p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Market Trends</a:t>
            </a:r>
          </a:p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&amp; Insights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972" y="1968832"/>
            <a:ext cx="1704171" cy="34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9"/>
              </a:lnSpc>
            </a:pPr>
            <a:r>
              <a:rPr lang="en-US" b="true" sz="22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MGG 633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0740" y="2320516"/>
            <a:ext cx="1704171" cy="18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0"/>
              </a:lnSpc>
            </a:pPr>
            <a:r>
              <a:rPr lang="en-US" sz="1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 10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0740" y="8287049"/>
            <a:ext cx="1713939" cy="684317"/>
            <a:chOff x="0" y="0"/>
            <a:chExt cx="2285252" cy="912422"/>
          </a:xfrm>
        </p:grpSpPr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92056" y="1525863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92056" y="4508980"/>
            <a:ext cx="7106119" cy="35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8"/>
              </a:lnSpc>
            </a:pPr>
            <a:r>
              <a:rPr lang="en-US" b="true" sz="1934" spc="-48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THE NYC SHORT TERM RENTAL MARKET IS BOOMING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687136">
            <a:off x="15580115" y="4542838"/>
            <a:ext cx="189150" cy="228643"/>
          </a:xfrm>
          <a:custGeom>
            <a:avLst/>
            <a:gdLst/>
            <a:ahLst/>
            <a:cxnLst/>
            <a:rect r="r" b="b" t="t" l="l"/>
            <a:pathLst>
              <a:path h="228643" w="189150">
                <a:moveTo>
                  <a:pt x="0" y="0"/>
                </a:moveTo>
                <a:lnTo>
                  <a:pt x="189150" y="0"/>
                </a:lnTo>
                <a:lnTo>
                  <a:pt x="189150" y="228644"/>
                </a:lnTo>
                <a:lnTo>
                  <a:pt x="0" y="22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6542795" cy="10595498"/>
            <a:chOff x="0" y="0"/>
            <a:chExt cx="984137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4137" cy="1593725"/>
            </a:xfrm>
            <a:custGeom>
              <a:avLst/>
              <a:gdLst/>
              <a:ahLst/>
              <a:cxnLst/>
              <a:rect r="r" b="b" t="t" l="l"/>
              <a:pathLst>
                <a:path h="1593725" w="984137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71532" t="0" r="-715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20122" y="2609329"/>
            <a:ext cx="7717924" cy="128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Why Airbnb?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2056" y="5248275"/>
            <a:ext cx="7325824" cy="377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6"/>
              </a:lnSpc>
            </a:pPr>
            <a:r>
              <a:rPr lang="en-US" b="true" sz="1775" spc="-5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Airbnb</a:t>
            </a: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has changed the landscape of renting (particularly short-term rental markets) in major cities such as NYC, being one of the more active cities for Airbnb rental listings. It’s become a supplement to household income for landlords and alternative to hotels for consumers.</a:t>
            </a:r>
          </a:p>
          <a:p>
            <a:pPr algn="just">
              <a:lnSpc>
                <a:spcPts val="2486"/>
              </a:lnSpc>
            </a:pPr>
          </a:p>
          <a:p>
            <a:pPr algn="just">
              <a:lnSpc>
                <a:spcPts val="2486"/>
              </a:lnSpc>
            </a:pPr>
            <a:r>
              <a:rPr lang="en-US" b="true" sz="1775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Quick Facts:</a:t>
            </a:r>
          </a:p>
          <a:p>
            <a:pPr algn="l" marL="383417" indent="-191709" lvl="1">
              <a:lnSpc>
                <a:spcPts val="2486"/>
              </a:lnSpc>
              <a:buFont typeface="Arial"/>
              <a:buChar char="•"/>
            </a:pPr>
            <a:r>
              <a:rPr lang="en-US" sz="1775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100,000+ Listings spread across the five boroughs</a:t>
            </a:r>
          </a:p>
          <a:p>
            <a:pPr algn="l" marL="383417" indent="-191709" lvl="1">
              <a:lnSpc>
                <a:spcPts val="2486"/>
              </a:lnSpc>
              <a:buFont typeface="Arial"/>
              <a:buChar char="•"/>
            </a:pPr>
            <a:r>
              <a:rPr lang="en-US" sz="1775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Several hundred neighborhoods</a:t>
            </a:r>
          </a:p>
          <a:p>
            <a:pPr algn="l" marL="383417" indent="-191709" lvl="1">
              <a:lnSpc>
                <a:spcPts val="2486"/>
              </a:lnSpc>
              <a:buFont typeface="Arial"/>
              <a:buChar char="•"/>
            </a:pPr>
            <a:r>
              <a:rPr lang="en-US" sz="1775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Listing ranges from $100 per night (outer borough) to exceeding $1,000 per night (central manhattan)</a:t>
            </a:r>
          </a:p>
          <a:p>
            <a:pPr algn="l">
              <a:lnSpc>
                <a:spcPts val="248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1311" y="0"/>
            <a:ext cx="546689" cy="7173190"/>
            <a:chOff x="0" y="0"/>
            <a:chExt cx="143984" cy="1889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84" cy="1889235"/>
            </a:xfrm>
            <a:custGeom>
              <a:avLst/>
              <a:gdLst/>
              <a:ahLst/>
              <a:cxnLst/>
              <a:rect r="r" b="b" t="t" l="l"/>
              <a:pathLst>
                <a:path h="1889235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3984" cy="193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444268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6305" y="9608"/>
            <a:ext cx="1197405" cy="1196165"/>
            <a:chOff x="0" y="0"/>
            <a:chExt cx="1596540" cy="1594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42685" y="9608"/>
            <a:ext cx="1197405" cy="1196165"/>
            <a:chOff x="0" y="0"/>
            <a:chExt cx="1596540" cy="159488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75845" y="9608"/>
            <a:ext cx="1197405" cy="1196165"/>
            <a:chOff x="0" y="0"/>
            <a:chExt cx="1596540" cy="159488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639560" y="1679009"/>
            <a:ext cx="852479" cy="1316263"/>
          </a:xfrm>
          <a:custGeom>
            <a:avLst/>
            <a:gdLst/>
            <a:ahLst/>
            <a:cxnLst/>
            <a:rect r="r" b="b" t="t" l="l"/>
            <a:pathLst>
              <a:path h="1316263" w="852479">
                <a:moveTo>
                  <a:pt x="0" y="0"/>
                </a:moveTo>
                <a:lnTo>
                  <a:pt x="852479" y="0"/>
                </a:lnTo>
                <a:lnTo>
                  <a:pt x="852479" y="1316263"/>
                </a:lnTo>
                <a:lnTo>
                  <a:pt x="0" y="131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104520" y="1919591"/>
            <a:ext cx="813635" cy="754374"/>
          </a:xfrm>
          <a:custGeom>
            <a:avLst/>
            <a:gdLst/>
            <a:ahLst/>
            <a:cxnLst/>
            <a:rect r="r" b="b" t="t" l="l"/>
            <a:pathLst>
              <a:path h="754374" w="813635">
                <a:moveTo>
                  <a:pt x="0" y="0"/>
                </a:moveTo>
                <a:lnTo>
                  <a:pt x="813635" y="0"/>
                </a:lnTo>
                <a:lnTo>
                  <a:pt x="813635" y="754374"/>
                </a:lnTo>
                <a:lnTo>
                  <a:pt x="0" y="75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65767" y="1748296"/>
            <a:ext cx="981130" cy="957825"/>
          </a:xfrm>
          <a:custGeom>
            <a:avLst/>
            <a:gdLst/>
            <a:ahLst/>
            <a:cxnLst/>
            <a:rect r="r" b="b" t="t" l="l"/>
            <a:pathLst>
              <a:path h="957825" w="981130">
                <a:moveTo>
                  <a:pt x="0" y="0"/>
                </a:moveTo>
                <a:lnTo>
                  <a:pt x="981130" y="0"/>
                </a:lnTo>
                <a:lnTo>
                  <a:pt x="981130" y="957825"/>
                </a:lnTo>
                <a:lnTo>
                  <a:pt x="0" y="957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28700" y="8125800"/>
            <a:ext cx="22757" cy="975106"/>
            <a:chOff x="0" y="0"/>
            <a:chExt cx="12543" cy="537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9525" y="7173190"/>
            <a:ext cx="546689" cy="3113810"/>
            <a:chOff x="0" y="0"/>
            <a:chExt cx="143984" cy="8200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3984" cy="820098"/>
            </a:xfrm>
            <a:custGeom>
              <a:avLst/>
              <a:gdLst/>
              <a:ahLst/>
              <a:cxnLst/>
              <a:rect r="r" b="b" t="t" l="l"/>
              <a:pathLst>
                <a:path h="820098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43984" cy="86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115411" y="1571138"/>
            <a:ext cx="1159493" cy="1228147"/>
          </a:xfrm>
          <a:custGeom>
            <a:avLst/>
            <a:gdLst/>
            <a:ahLst/>
            <a:cxnLst/>
            <a:rect r="r" b="b" t="t" l="l"/>
            <a:pathLst>
              <a:path h="1228147" w="1159493">
                <a:moveTo>
                  <a:pt x="0" y="0"/>
                </a:moveTo>
                <a:lnTo>
                  <a:pt x="1159493" y="0"/>
                </a:lnTo>
                <a:lnTo>
                  <a:pt x="1159493" y="1228147"/>
                </a:lnTo>
                <a:lnTo>
                  <a:pt x="0" y="1228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62973" y="5085124"/>
            <a:ext cx="3336787" cy="123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How does price vary across NYC boroughs and room types? How is the overall price distribution shaped?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94830" y="5105400"/>
            <a:ext cx="3800655" cy="123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What proportion of hosts on the platform are identity-verified, and how does verification vary geographically?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8489" y="5085124"/>
            <a:ext cx="3812252" cy="153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How has review activity evolve and what drives rating? Track platform growth, COVID impact, and factors behind higher guest ratings.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665020" y="5105400"/>
            <a:ext cx="3696285" cy="123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Which boroughs are most  and least booked up? Identify high-demand areas and availability trends across neighborhoods.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7678" y="8063749"/>
            <a:ext cx="2762082" cy="119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5"/>
              </a:lnSpc>
            </a:pPr>
            <a:r>
              <a:rPr lang="en-US" sz="4679" spc="-29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What's the Story?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79247" y="8027981"/>
            <a:ext cx="11659387" cy="134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This report is intended to serve two audiences. The academic audience is evaluating the analytical and modeling work. Second, the hypothetical business-focused audience (short-term rental operators, real estate analysts, or city policy researchers), who could use the dashboard and findings to understand pricing, investment strategies, or regulatory decisions.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2270" y="3090400"/>
            <a:ext cx="3438193" cy="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PRICING ANALYSIS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38378" y="3090400"/>
            <a:ext cx="3438193" cy="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HOSTS &amp; BOOKING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64486" y="3090400"/>
            <a:ext cx="3438193" cy="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REVIEWS &amp; RATINGS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94066" y="3090400"/>
            <a:ext cx="3438193" cy="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AVAILABILITY TRENDS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8142" y="1358088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8142" y="4449725"/>
            <a:ext cx="9021242" cy="379246"/>
            <a:chOff x="0" y="0"/>
            <a:chExt cx="12028323" cy="505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449"/>
              <a:ext cx="11773903" cy="480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6"/>
                </a:lnSpc>
              </a:pPr>
              <a:r>
                <a:rPr lang="en-US" b="true" sz="2132" spc="-53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HOW DOES PRICE VARY ACROSS NYC BOROUGHS AND ROOM TYPES?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-8687136">
              <a:off x="11711303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69" y="134340"/>
            <a:ext cx="6800068" cy="5310261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056208" y="1472176"/>
            <a:ext cx="7107541" cy="225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1"/>
              </a:lnSpc>
            </a:pPr>
            <a:r>
              <a:rPr lang="en-US" sz="8817" spc="-56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Pricing</a:t>
            </a:r>
          </a:p>
          <a:p>
            <a:pPr algn="l" marL="0" indent="0" lvl="0">
              <a:lnSpc>
                <a:spcPts val="8641"/>
              </a:lnSpc>
            </a:pPr>
            <a:r>
              <a:rPr lang="en-US" sz="8817" spc="-56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8142" y="6240229"/>
            <a:ext cx="9021242" cy="282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6"/>
              </a:lnSpc>
            </a:pPr>
            <a:r>
              <a:rPr lang="en-US" b="true" sz="1997" spc="-5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Points:</a:t>
            </a:r>
          </a:p>
          <a:p>
            <a:pPr algn="l" marL="431269" indent="-215635" lvl="1">
              <a:lnSpc>
                <a:spcPts val="2796"/>
              </a:lnSpc>
              <a:buFont typeface="Arial"/>
              <a:buChar char="•"/>
            </a:pPr>
            <a:r>
              <a:rPr lang="en-US" b="true" sz="1997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Overall avg price/night: </a:t>
            </a:r>
            <a:r>
              <a:rPr lang="en-US" sz="1997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$625</a:t>
            </a:r>
          </a:p>
          <a:p>
            <a:pPr algn="l" marL="431269" indent="-215635" lvl="1">
              <a:lnSpc>
                <a:spcPts val="2796"/>
              </a:lnSpc>
              <a:buFont typeface="Arial"/>
              <a:buChar char="•"/>
            </a:pPr>
            <a:r>
              <a:rPr lang="en-US" b="true" sz="1997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Price gap: </a:t>
            </a:r>
            <a:r>
              <a:rPr lang="en-US" sz="1997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$13 gap (Manhattan vs. Staten Island)</a:t>
            </a:r>
          </a:p>
          <a:p>
            <a:pPr algn="l" marL="431269" indent="-215635" lvl="1">
              <a:lnSpc>
                <a:spcPts val="2796"/>
              </a:lnSpc>
              <a:buFont typeface="Arial"/>
              <a:buChar char="•"/>
            </a:pPr>
            <a:r>
              <a:rPr lang="en-US" b="true" sz="1997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Price Distribution: </a:t>
            </a:r>
            <a:r>
              <a:rPr lang="en-US" sz="1997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$200-$1,000/night</a:t>
            </a:r>
          </a:p>
          <a:p>
            <a:pPr algn="l">
              <a:lnSpc>
                <a:spcPts val="2796"/>
              </a:lnSpc>
            </a:pPr>
          </a:p>
          <a:p>
            <a:pPr algn="l" marL="431269" indent="-215635" lvl="1">
              <a:lnSpc>
                <a:spcPts val="2796"/>
              </a:lnSpc>
              <a:buFont typeface="Arial"/>
              <a:buChar char="•"/>
            </a:pPr>
            <a:r>
              <a:rPr lang="en-US" sz="1997" i="true" spc="-5">
                <a:solidFill>
                  <a:srgbClr val="3A58E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Borough matters less than the room type. A well-crafted listing in Queens is worth as much as a listing in Manhattan.</a:t>
            </a:r>
          </a:p>
          <a:p>
            <a:pPr algn="l">
              <a:lnSpc>
                <a:spcPts val="279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54288" y="8427161"/>
            <a:ext cx="4102632" cy="3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6"/>
              </a:lnSpc>
            </a:pPr>
            <a:r>
              <a:rPr lang="en-US" sz="199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Overall avg price per night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2135" y="5626752"/>
            <a:ext cx="5116565" cy="230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96"/>
              </a:lnSpc>
              <a:spcBef>
                <a:spcPct val="0"/>
              </a:spcBef>
            </a:pPr>
            <a:r>
              <a:rPr lang="en-US" sz="13497" spc="-863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$625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38179" cy="10287000"/>
            <a:chOff x="0" y="0"/>
            <a:chExt cx="182733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33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27339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733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43219" y="4032536"/>
            <a:ext cx="3189919" cy="620584"/>
          </a:xfrm>
          <a:custGeom>
            <a:avLst/>
            <a:gdLst/>
            <a:ahLst/>
            <a:cxnLst/>
            <a:rect r="r" b="b" t="t" l="l"/>
            <a:pathLst>
              <a:path h="620584" w="3189919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59316" y="1438329"/>
            <a:ext cx="2920486" cy="2916826"/>
            <a:chOff x="0" y="0"/>
            <a:chExt cx="567580" cy="566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65745" lIns="65745" bIns="65745" rIns="65745"/>
            <a:lstStyle/>
            <a:p>
              <a:pPr algn="ctr" marL="0" indent="0" lvl="0">
                <a:lnSpc>
                  <a:spcPts val="24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08475" y="2199673"/>
            <a:ext cx="2459408" cy="80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4"/>
              </a:lnSpc>
            </a:pPr>
            <a:r>
              <a:rPr lang="en-US" b="true" sz="6085" spc="-18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49.8%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0959" y="3060705"/>
            <a:ext cx="1957200" cy="64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4"/>
              </a:lnSpc>
            </a:pPr>
            <a:r>
              <a:rPr lang="en-US" sz="1832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HOSTS IDENTITY-VERIFIED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03854" y="4109945"/>
            <a:ext cx="890209" cy="1168653"/>
          </a:xfrm>
          <a:custGeom>
            <a:avLst/>
            <a:gdLst/>
            <a:ahLst/>
            <a:cxnLst/>
            <a:rect r="r" b="b" t="t" l="l"/>
            <a:pathLst>
              <a:path h="1168653" w="890209">
                <a:moveTo>
                  <a:pt x="0" y="0"/>
                </a:moveTo>
                <a:lnTo>
                  <a:pt x="890209" y="0"/>
                </a:lnTo>
                <a:lnTo>
                  <a:pt x="890209" y="1168652"/>
                </a:lnTo>
                <a:lnTo>
                  <a:pt x="0" y="1168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541034"/>
            <a:ext cx="4378886" cy="4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6"/>
              </a:lnSpc>
            </a:pPr>
            <a:r>
              <a:rPr lang="en-US" b="true" sz="19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VERIFICATION RATE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43300"/>
            <a:ext cx="4378886" cy="49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87"/>
              </a:lnSpc>
            </a:pPr>
            <a:r>
              <a:rPr lang="en-US" sz="16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Half of NYC Airbnb hosts are verified. No 'trustworthy borough' pattern found.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103421"/>
            <a:ext cx="4912259" cy="845289"/>
            <a:chOff x="0" y="0"/>
            <a:chExt cx="6549679" cy="112705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0"/>
              <a:ext cx="6549679" cy="570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36"/>
                </a:lnSpc>
              </a:pPr>
              <a:r>
                <a:rPr lang="en-US" b="true" sz="191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AVAILABILITY GAP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65081"/>
              <a:ext cx="6549679" cy="661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987"/>
                </a:lnSpc>
              </a:pPr>
              <a:r>
                <a:rPr lang="en-US" sz="162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Manhattan &amp; Brooklyn show lowest availability, indicating highest demand.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8413011"/>
            <a:ext cx="4679775" cy="845289"/>
            <a:chOff x="0" y="0"/>
            <a:chExt cx="6239699" cy="112705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0"/>
              <a:ext cx="6239699" cy="570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36"/>
                </a:lnSpc>
              </a:pPr>
              <a:r>
                <a:rPr lang="en-US" b="true" sz="191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INSIGHT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65081"/>
              <a:ext cx="6239699" cy="661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987"/>
                </a:lnSpc>
              </a:pPr>
              <a:r>
                <a:rPr lang="en-US" sz="162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Lower availability = higher demand. Location drives booking pressure.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45491" y="1392039"/>
            <a:ext cx="7522404" cy="7535263"/>
            <a:chOff x="0" y="0"/>
            <a:chExt cx="10029872" cy="1004701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033544" y="-57150"/>
              <a:ext cx="7126880" cy="470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6"/>
                </a:lnSpc>
              </a:pPr>
              <a:r>
                <a:rPr lang="en-US" b="true" sz="2040" spc="-51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HOST VERIFICATION ANALYSIS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33544" y="809308"/>
              <a:ext cx="8996329" cy="2275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57"/>
                </a:lnSpc>
              </a:pPr>
              <a:r>
                <a:rPr lang="en-US" sz="1969" spc="-49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Only 49.8% of NYC Airbnb hosts have completed identity verification. This 50/50 split is consistent across all five boroughs; verification is a platform-wide behavior, not a geographic indicator of trustworthiness. Getting verified represents an immediate competitive advantage.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33544" y="6078793"/>
              <a:ext cx="8996329" cy="425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04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33544" y="9621077"/>
              <a:ext cx="8996329" cy="425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04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302702"/>
              <a:ext cx="643052" cy="310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60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4844987"/>
              <a:ext cx="643052" cy="310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60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387271"/>
              <a:ext cx="643052" cy="310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1196251"/>
            <a:ext cx="24226" cy="1038034"/>
            <a:chOff x="0" y="0"/>
            <a:chExt cx="12543" cy="537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4711" y="1439950"/>
            <a:ext cx="2753109" cy="96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</a:pPr>
            <a:r>
              <a:rPr lang="en-US" sz="3754" spc="-24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Host Behavior &amp; Availability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58433" y="3449606"/>
            <a:ext cx="6890386" cy="7050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25863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183824"/>
            <a:ext cx="7514069" cy="85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16"/>
              </a:lnSpc>
            </a:pPr>
            <a:r>
              <a:rPr lang="en-US" b="true" sz="2368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HOW HAS PLATFORM ACTIVITY EVOLVED, AND WHAT DRIVES HIGHER RATINGS?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79310" y="363038"/>
            <a:ext cx="9101468" cy="6761443"/>
            <a:chOff x="0" y="0"/>
            <a:chExt cx="12135291" cy="9015257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1034574" y="-1025928"/>
              <a:ext cx="12414894" cy="10489239"/>
            </a:xfrm>
            <a:prstGeom prst="rect">
              <a:avLst/>
            </a:prstGeom>
          </p:spPr>
        </p:pic>
        <p:sp>
          <p:nvSpPr>
            <p:cNvPr name="AutoShape 8" id="8"/>
            <p:cNvSpPr/>
            <p:nvPr/>
          </p:nvSpPr>
          <p:spPr>
            <a:xfrm>
              <a:off x="12122591" y="0"/>
              <a:ext cx="0" cy="9015257"/>
            </a:xfrm>
            <a:prstGeom prst="line">
              <a:avLst/>
            </a:prstGeom>
            <a:ln cap="rnd" w="25400">
              <a:solidFill>
                <a:srgbClr val="3A58E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56766" y="1406218"/>
            <a:ext cx="5780387" cy="24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Reviews &amp; Recency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513" y="4978002"/>
            <a:ext cx="7514069" cy="423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80"/>
              </a:lnSpc>
            </a:pP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Review Activity Trend (2015–2024):</a:t>
            </a:r>
          </a:p>
          <a:p>
            <a:pPr algn="just" marL="0" indent="0" lvl="0">
              <a:lnSpc>
                <a:spcPts val="2780"/>
              </a:lnSpc>
            </a:pP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985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Growth (2015–2019)</a:t>
            </a: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: Platform scales to 150K monthly reviews as NYC short-term rentals boom</a:t>
            </a:r>
          </a:p>
          <a:p>
            <a:pPr algn="just" marL="0" indent="0" lvl="0">
              <a:lnSpc>
                <a:spcPts val="2780"/>
              </a:lnSpc>
            </a:pP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985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COVID Collapse (2020)</a:t>
            </a: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: Reviews drop ~80% as travel halts globally</a:t>
            </a:r>
          </a:p>
          <a:p>
            <a:pPr algn="just" marL="0" indent="0" lvl="0">
              <a:lnSpc>
                <a:spcPts val="2780"/>
              </a:lnSpc>
            </a:pP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985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Recovery (2022–2024)</a:t>
            </a: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: Gradual rebound underway, but activity has not yet returned to pre-pandemic peaks</a:t>
            </a:r>
          </a:p>
          <a:p>
            <a:pPr algn="just" marL="0" indent="0" lvl="0">
              <a:lnSpc>
                <a:spcPts val="2780"/>
              </a:lnSpc>
            </a:pPr>
          </a:p>
          <a:p>
            <a:pPr algn="just" marL="0" indent="0" lvl="0">
              <a:lnSpc>
                <a:spcPts val="2780"/>
              </a:lnSpc>
            </a:pPr>
            <a:r>
              <a:rPr lang="en-US" b="true" sz="1985" i="true" spc="-5">
                <a:solidFill>
                  <a:srgbClr val="3A58E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Key Insight:</a:t>
            </a:r>
            <a:r>
              <a:rPr lang="en-US" sz="198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Since the COVID-19 collapse (2020), the Airbnb market in NYC has only been rising in demand and could eventually reach the market's peak (2019) or surpass it moving forward.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694821" y="8264580"/>
            <a:ext cx="2479908" cy="482455"/>
          </a:xfrm>
          <a:custGeom>
            <a:avLst/>
            <a:gdLst/>
            <a:ahLst/>
            <a:cxnLst/>
            <a:rect r="r" b="b" t="t" l="l"/>
            <a:pathLst>
              <a:path h="482455" w="2479908">
                <a:moveTo>
                  <a:pt x="0" y="0"/>
                </a:moveTo>
                <a:lnTo>
                  <a:pt x="2479908" y="0"/>
                </a:lnTo>
                <a:lnTo>
                  <a:pt x="2479908" y="482455"/>
                </a:lnTo>
                <a:lnTo>
                  <a:pt x="0" y="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694821" y="6946210"/>
            <a:ext cx="2270445" cy="2267600"/>
            <a:chOff x="0" y="0"/>
            <a:chExt cx="567580" cy="566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53444" y="0"/>
                  </a:moveTo>
                  <a:lnTo>
                    <a:pt x="414136" y="0"/>
                  </a:lnTo>
                  <a:cubicBezTo>
                    <a:pt x="498880" y="0"/>
                    <a:pt x="567580" y="68699"/>
                    <a:pt x="567580" y="153444"/>
                  </a:cubicBezTo>
                  <a:lnTo>
                    <a:pt x="567580" y="413424"/>
                  </a:lnTo>
                  <a:cubicBezTo>
                    <a:pt x="567580" y="454120"/>
                    <a:pt x="551413" y="493149"/>
                    <a:pt x="522637" y="521926"/>
                  </a:cubicBezTo>
                  <a:cubicBezTo>
                    <a:pt x="493861" y="550702"/>
                    <a:pt x="454831" y="566868"/>
                    <a:pt x="414136" y="566868"/>
                  </a:cubicBezTo>
                  <a:lnTo>
                    <a:pt x="153444" y="566868"/>
                  </a:lnTo>
                  <a:cubicBezTo>
                    <a:pt x="112748" y="566868"/>
                    <a:pt x="73719" y="550702"/>
                    <a:pt x="44943" y="521926"/>
                  </a:cubicBezTo>
                  <a:cubicBezTo>
                    <a:pt x="16166" y="493149"/>
                    <a:pt x="0" y="454120"/>
                    <a:pt x="0" y="413424"/>
                  </a:cubicBezTo>
                  <a:lnTo>
                    <a:pt x="0" y="153444"/>
                  </a:lnTo>
                  <a:cubicBezTo>
                    <a:pt x="0" y="112748"/>
                    <a:pt x="16166" y="73719"/>
                    <a:pt x="44943" y="44943"/>
                  </a:cubicBezTo>
                  <a:cubicBezTo>
                    <a:pt x="73719" y="16166"/>
                    <a:pt x="112748" y="0"/>
                    <a:pt x="1534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51111" lIns="51111" bIns="51111" rIns="51111"/>
            <a:lstStyle/>
            <a:p>
              <a:pPr algn="ctr" marL="0" indent="0" lvl="0">
                <a:lnSpc>
                  <a:spcPts val="24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038797" y="7439252"/>
            <a:ext cx="1582493" cy="51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6"/>
              </a:lnSpc>
            </a:pPr>
            <a:r>
              <a:rPr lang="en-US" b="true" sz="3915" spc="-11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150K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90713" y="8099319"/>
            <a:ext cx="1278661" cy="76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2"/>
              </a:lnSpc>
            </a:pPr>
            <a:r>
              <a:rPr lang="en-US" sz="1415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PEAK MONTHLY REVIEWS PRE-COVID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4917876"/>
            <a:ext cx="8095080" cy="196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8492" indent="-204246" lvl="1">
              <a:lnSpc>
                <a:spcPts val="2648"/>
              </a:lnSpc>
              <a:buAutoNum type="arabicPeriod" startAt="1"/>
            </a:pPr>
            <a:r>
              <a:rPr lang="en-US" sz="1892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Room type and quality of listing is doing the real work</a:t>
            </a:r>
          </a:p>
          <a:p>
            <a:pPr algn="l" marL="408492" indent="-204246" lvl="1">
              <a:lnSpc>
                <a:spcPts val="2648"/>
              </a:lnSpc>
              <a:buAutoNum type="arabicPeriod" startAt="1"/>
            </a:pPr>
            <a:r>
              <a:rPr lang="en-US" sz="1892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Since half the platform in NYC is unverified, getting verified is one of the EASIEST competitive edges a host can have</a:t>
            </a:r>
          </a:p>
          <a:p>
            <a:pPr algn="l" marL="408492" indent="-204246" lvl="1">
              <a:lnSpc>
                <a:spcPts val="2648"/>
              </a:lnSpc>
              <a:buAutoNum type="arabicPeriod" startAt="1"/>
            </a:pPr>
            <a:r>
              <a:rPr lang="en-US" sz="1892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COVID has made the NYC market drop. NOW would be the best time to get into the airbnb market in NYC before it resurges like it did in 2019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1783947"/>
            <a:ext cx="40440" cy="1732806"/>
            <a:chOff x="0" y="0"/>
            <a:chExt cx="12543" cy="537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4074029"/>
            <a:ext cx="6563388" cy="360869"/>
            <a:chOff x="0" y="0"/>
            <a:chExt cx="8751183" cy="4811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0464"/>
              <a:ext cx="8507297" cy="37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299"/>
                </a:lnSpc>
              </a:pPr>
              <a:r>
                <a:rPr lang="en-US" b="true" sz="1642" spc="-4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ACROSS 102,000 LISTINGS, FOUR PATTERNS STAND OUT CLEARLY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-8687136">
              <a:off x="8481990" y="38058"/>
              <a:ext cx="214153" cy="258866"/>
            </a:xfrm>
            <a:custGeom>
              <a:avLst/>
              <a:gdLst/>
              <a:ahLst/>
              <a:cxnLst/>
              <a:rect r="r" b="b" t="t" l="l"/>
              <a:pathLst>
                <a:path h="258866" w="214153">
                  <a:moveTo>
                    <a:pt x="0" y="0"/>
                  </a:moveTo>
                  <a:lnTo>
                    <a:pt x="214153" y="0"/>
                  </a:lnTo>
                  <a:lnTo>
                    <a:pt x="214153" y="258866"/>
                  </a:lnTo>
                  <a:lnTo>
                    <a:pt x="0" y="258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37659" y="1830845"/>
            <a:ext cx="4908339" cy="196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8"/>
              </a:lnSpc>
            </a:pPr>
            <a:r>
              <a:rPr lang="en-US" sz="7661" spc="-49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4 Things the Data Told Us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4564" y="1504251"/>
            <a:ext cx="6376039" cy="1593100"/>
            <a:chOff x="0" y="0"/>
            <a:chExt cx="2754311" cy="6881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4311" cy="688185"/>
            </a:xfrm>
            <a:custGeom>
              <a:avLst/>
              <a:gdLst/>
              <a:ahLst/>
              <a:cxnLst/>
              <a:rect r="r" b="b" t="t" l="l"/>
              <a:pathLst>
                <a:path h="688185" w="2754311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754311" cy="73581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8087" y="1821243"/>
            <a:ext cx="5128994" cy="1031394"/>
            <a:chOff x="0" y="0"/>
            <a:chExt cx="6838659" cy="137519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589864" y="-66675"/>
              <a:ext cx="4202931" cy="432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0"/>
                </a:lnSpc>
              </a:pPr>
              <a:r>
                <a:rPr lang="en-US" b="true" sz="182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Borough ≠ Price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89864" y="544130"/>
              <a:ext cx="5248795" cy="831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79"/>
                </a:lnSpc>
              </a:pPr>
              <a:r>
                <a:rPr lang="en-US" sz="11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Average nightly prices nearly identical across boroughs (~$620–$633). Room type and quality matter more.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06665"/>
              <a:ext cx="1165955" cy="7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1"/>
                </a:lnSpc>
              </a:pPr>
              <a:r>
                <a:rPr lang="en-US" sz="4212" spc="-12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64564" y="3400724"/>
            <a:ext cx="6376039" cy="1593100"/>
            <a:chOff x="0" y="0"/>
            <a:chExt cx="2754311" cy="6881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54311" cy="688185"/>
            </a:xfrm>
            <a:custGeom>
              <a:avLst/>
              <a:gdLst/>
              <a:ahLst/>
              <a:cxnLst/>
              <a:rect r="r" b="b" t="t" l="l"/>
              <a:pathLst>
                <a:path h="688185" w="2754311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54311" cy="73581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8087" y="3734859"/>
            <a:ext cx="5128994" cy="1027513"/>
            <a:chOff x="0" y="0"/>
            <a:chExt cx="6838659" cy="137001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589864" y="-66675"/>
              <a:ext cx="4202931" cy="432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0"/>
                </a:lnSpc>
              </a:pPr>
              <a:r>
                <a:rPr lang="en-US" b="true" sz="182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Verification Gap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89864" y="544130"/>
              <a:ext cx="5248795" cy="825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90"/>
                </a:lnSpc>
              </a:pPr>
              <a:r>
                <a:rPr lang="en-US" sz="1207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Only 49.8% of hosts are verified. There is an immediate competitive advantage for those who verify.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70499"/>
              <a:ext cx="1165955" cy="7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1"/>
                </a:lnSpc>
              </a:pPr>
              <a:r>
                <a:rPr lang="en-US" sz="4212" spc="-12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64564" y="5293177"/>
            <a:ext cx="6376039" cy="1593100"/>
            <a:chOff x="0" y="0"/>
            <a:chExt cx="2754311" cy="6881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54311" cy="688185"/>
            </a:xfrm>
            <a:custGeom>
              <a:avLst/>
              <a:gdLst/>
              <a:ahLst/>
              <a:cxnLst/>
              <a:rect r="r" b="b" t="t" l="l"/>
              <a:pathLst>
                <a:path h="688185" w="2754311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754311" cy="73581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88087" y="5639303"/>
            <a:ext cx="5128994" cy="1031394"/>
            <a:chOff x="0" y="0"/>
            <a:chExt cx="6838659" cy="137519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1589864" y="-66675"/>
              <a:ext cx="4202931" cy="432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0"/>
                </a:lnSpc>
              </a:pPr>
              <a:r>
                <a:rPr lang="en-US" b="true" sz="182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COVID Left a Mark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589864" y="544130"/>
              <a:ext cx="5248795" cy="831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79"/>
                </a:lnSpc>
              </a:pPr>
              <a:r>
                <a:rPr lang="en-US" sz="11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Review activity collapsed ~80% in 2020; recovery has been gradual and slow. Strong resurge from 2024 to current.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212725"/>
              <a:ext cx="1165955" cy="7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1"/>
                </a:lnSpc>
              </a:pPr>
              <a:r>
                <a:rPr lang="en-US" sz="4212" spc="-12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64564" y="7189649"/>
            <a:ext cx="6376039" cy="1593100"/>
            <a:chOff x="0" y="0"/>
            <a:chExt cx="2754311" cy="6881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54311" cy="688185"/>
            </a:xfrm>
            <a:custGeom>
              <a:avLst/>
              <a:gdLst/>
              <a:ahLst/>
              <a:cxnLst/>
              <a:rect r="r" b="b" t="t" l="l"/>
              <a:pathLst>
                <a:path h="688185" w="2754311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754311" cy="73581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88087" y="7532526"/>
            <a:ext cx="5433836" cy="820612"/>
            <a:chOff x="0" y="0"/>
            <a:chExt cx="7245114" cy="1094149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1684358" y="-66675"/>
              <a:ext cx="4452731" cy="432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0"/>
                </a:lnSpc>
              </a:pPr>
              <a:r>
                <a:rPr lang="en-US" b="true" sz="182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Professionalism Pays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684358" y="544130"/>
              <a:ext cx="5560756" cy="550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79"/>
                </a:lnSpc>
              </a:pPr>
              <a:r>
                <a:rPr lang="en-US" sz="119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Listings that are well-maintained, proper pictures, and attentive hosts typically have higher $ per night.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176559"/>
              <a:ext cx="1235253" cy="763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1"/>
                </a:lnSpc>
              </a:pPr>
              <a:r>
                <a:rPr lang="en-US" sz="4212" spc="-12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58088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543" cy="58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312874"/>
            <a:ext cx="8172450" cy="379246"/>
            <a:chOff x="0" y="0"/>
            <a:chExt cx="10896600" cy="505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1571"/>
              <a:ext cx="10820400" cy="36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3"/>
                </a:lnSpc>
              </a:pPr>
              <a:r>
                <a:rPr lang="en-US" b="true" sz="1624" spc="-4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ACTIONABLE INSIGHTS FOR HOSTS, OPERATORS &amp; POLICYMAKERS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52512" y="5400430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2512" y="6391722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2512" y="7383013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2512" y="8376909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92401" y="4312874"/>
            <a:ext cx="6466899" cy="4677787"/>
          </a:xfrm>
          <a:custGeom>
            <a:avLst/>
            <a:gdLst/>
            <a:ahLst/>
            <a:cxnLst/>
            <a:rect r="r" b="b" t="t" l="l"/>
            <a:pathLst>
              <a:path h="4677787" w="6466899">
                <a:moveTo>
                  <a:pt x="0" y="0"/>
                </a:moveTo>
                <a:lnTo>
                  <a:pt x="6466899" y="0"/>
                </a:lnTo>
                <a:lnTo>
                  <a:pt x="6466899" y="4677787"/>
                </a:lnTo>
                <a:lnTo>
                  <a:pt x="0" y="4677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84" t="0" r="-428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97048" y="1702945"/>
            <a:ext cx="6794782" cy="169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Implications &amp; Recommendations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0201" y="5472630"/>
            <a:ext cx="7273799" cy="54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5"/>
              </a:lnSpc>
            </a:pPr>
            <a:r>
              <a:rPr lang="en-US" sz="1553" spc="-3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Get verified. Only half of the hosts are. It's a free competitive edge that builds guest trust.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0201" y="6463921"/>
            <a:ext cx="7273799" cy="54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5"/>
              </a:lnSpc>
            </a:pPr>
            <a:r>
              <a:rPr lang="en-US" sz="1553" spc="-3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Operate more like a hotel. Consistent standards and professional hospitality lead to better ratings.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0201" y="7455213"/>
            <a:ext cx="7273799" cy="54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5"/>
              </a:lnSpc>
            </a:pPr>
            <a:r>
              <a:rPr lang="en-US" sz="1553" spc="-3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Don't overfocus on borough. A well-run Queens listing competes effectively with Manhattan.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0201" y="8446504"/>
            <a:ext cx="7273799" cy="54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5"/>
              </a:lnSpc>
            </a:pPr>
            <a:r>
              <a:rPr lang="en-US" sz="1553" spc="-3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For policymakers: Monitor host concentration, pair with NYC tourism data, note gradual recovery.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1386" y="0"/>
            <a:ext cx="4646614" cy="10287000"/>
            <a:chOff x="0" y="0"/>
            <a:chExt cx="1223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23800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23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01649" y="4577922"/>
            <a:ext cx="1681886" cy="7585126"/>
            <a:chOff x="0" y="0"/>
            <a:chExt cx="2242515" cy="101135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6160" y="0"/>
              <a:ext cx="957486" cy="924409"/>
            </a:xfrm>
            <a:custGeom>
              <a:avLst/>
              <a:gdLst/>
              <a:ahLst/>
              <a:cxnLst/>
              <a:rect r="r" b="b" t="t" l="l"/>
              <a:pathLst>
                <a:path h="924409" w="957486">
                  <a:moveTo>
                    <a:pt x="0" y="0"/>
                  </a:moveTo>
                  <a:lnTo>
                    <a:pt x="957486" y="0"/>
                  </a:lnTo>
                  <a:lnTo>
                    <a:pt x="957486" y="924409"/>
                  </a:lnTo>
                  <a:lnTo>
                    <a:pt x="0" y="924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223097"/>
              <a:ext cx="2217098" cy="390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01"/>
                </a:lnSpc>
              </a:pPr>
              <a:r>
                <a:rPr lang="en-US" b="true" sz="196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MGG 633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708" y="1613295"/>
              <a:ext cx="2217098" cy="390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01"/>
                </a:lnSpc>
              </a:pPr>
              <a:r>
                <a:rPr lang="en-US" sz="196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Group 10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708" y="9333105"/>
              <a:ext cx="2217098" cy="390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01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5417" y="9723303"/>
              <a:ext cx="2217098" cy="390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1768" y="8001879"/>
            <a:ext cx="415165" cy="415165"/>
          </a:xfrm>
          <a:custGeom>
            <a:avLst/>
            <a:gdLst/>
            <a:ahLst/>
            <a:cxnLst/>
            <a:rect r="r" b="b" t="t" l="l"/>
            <a:pathLst>
              <a:path h="415165" w="415165">
                <a:moveTo>
                  <a:pt x="0" y="0"/>
                </a:moveTo>
                <a:lnTo>
                  <a:pt x="415165" y="0"/>
                </a:lnTo>
                <a:lnTo>
                  <a:pt x="415165" y="415165"/>
                </a:lnTo>
                <a:lnTo>
                  <a:pt x="0" y="415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986465" y="0"/>
            <a:ext cx="4378150" cy="10287000"/>
            <a:chOff x="0" y="0"/>
            <a:chExt cx="678290" cy="1593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78290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16964" t="0" r="-16964" b="0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5114925"/>
            <a:ext cx="9653327" cy="12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7"/>
              </a:lnSpc>
            </a:pPr>
            <a:r>
              <a:rPr lang="en-US" sz="7892" spc="-29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Any </a:t>
            </a:r>
            <a:r>
              <a:rPr lang="en-US" sz="7892" spc="-29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28675"/>
            <a:ext cx="6671890" cy="14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5"/>
              </a:lnSpc>
              <a:spcBef>
                <a:spcPct val="0"/>
              </a:spcBef>
            </a:pPr>
            <a:r>
              <a:rPr lang="en-US" b="true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DAHID_j0TyA</dc:identifier>
  <dcterms:modified xsi:type="dcterms:W3CDTF">2011-08-01T06:04:30Z</dcterms:modified>
  <cp:revision>1</cp:revision>
  <dc:title>NYC Airbnb Market Trends &amp; Insights Dashboard</dc:title>
</cp:coreProperties>
</file>